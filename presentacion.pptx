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2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8686800" y="0"/>
            <a:ext cx="3657600" cy="3200400"/>
          </a:xfrm>
          <a:prstGeom prst="rtTriangle">
            <a:avLst/>
          </a:prstGeom>
          <a:solidFill>
            <a:srgbClr val="14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0" y="5669280"/>
            <a:ext cx="2743200" cy="1645920"/>
          </a:xfrm>
          <a:prstGeom prst="rtTriangle">
            <a:avLst/>
          </a:prstGeom>
          <a:solidFill>
            <a:srgbClr val="14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75669"/>
                </a:solidFill>
                <a:latin typeface="Calibri"/>
              </a:defRPr>
            </a:pPr>
            <a:r>
              <a:t>UNIVERSIDAD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1F5F9"/>
                </a:solidFill>
                <a:latin typeface="Calibri"/>
              </a:defRPr>
            </a:pPr>
            <a:r>
              <a:t>SIG Teleférico Universitario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Sistema de Información Geográfica para red de transporte universitario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75669"/>
                </a:solidFill>
                <a:latin typeface="Calibri"/>
              </a:defRPr>
            </a:pPr>
            <a:r>
              <a:t>Integrantes: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  👤  Integrante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  👤  Integrante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669"/>
                </a:solidFill>
                <a:latin typeface="Calibri"/>
              </a:defRPr>
            </a:pPr>
            <a:r>
              <a:t>📅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657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0">
                <a:solidFill>
                  <a:srgbClr val="1E293B"/>
                </a:solidFill>
                <a:latin typeface="Calibri"/>
              </a:defRPr>
            </a:pPr>
            <a:r>
              <a:t>🗺️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⚠️  Problemática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9487" y="1645920"/>
            <a:ext cx="3200400" cy="2926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203200" bIns="152400"/>
          <a:lstStyle/>
          <a:p>
            <a:pPr algn="ctr">
              <a:spcAft>
                <a:spcPts val="800"/>
              </a:spcAft>
              <a:defRPr sz="1800" b="1">
                <a:solidFill>
                  <a:srgbClr val="3B82F6"/>
                </a:solidFill>
                <a:latin typeface="Calibri"/>
              </a:defRPr>
            </a:pPr>
            <a:r>
              <a:t>🗺️  Visualización georreferenciada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Falta de un mapa unificado que muestre la red de teleférico con datos espaciales.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95647" y="1645920"/>
            <a:ext cx="3200400" cy="2926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203200" bIns="152400"/>
          <a:lstStyle/>
          <a:p>
            <a:pPr algn="ctr">
              <a:spcAft>
                <a:spcPts val="80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🔗  Gestión centralizada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Dificultad para administrar líneas, estaciones, cables y postes desde un solo lugar.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61807" y="1645920"/>
            <a:ext cx="3200400" cy="2926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203200" bIns="152400"/>
          <a:lstStyle/>
          <a:p>
            <a:pPr algn="ctr">
              <a:spcAft>
                <a:spcPts val="800"/>
              </a:spcAft>
              <a:defRPr sz="1800" b="1">
                <a:solidFill>
                  <a:srgbClr val="3B82F6"/>
                </a:solidFill>
                <a:latin typeface="Calibri"/>
              </a:defRPr>
            </a:pPr>
            <a:r>
              <a:t>💾  Sistema CRUD espacial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No existe un sistema con operaciones CRUD que maneje datos con geometrías PostGIS.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669"/>
                </a:solidFill>
                <a:latin typeface="Calibri"/>
              </a:defRPr>
            </a:pPr>
            <a:r>
              <a:t>💡  La información de la infraestructura está dispersa y no hay un mapa unificado.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🎯  Objetivos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371600"/>
            <a:ext cx="960120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203200" bIns="152400"/>
          <a:lstStyle/>
          <a:p>
            <a:pPr algn="ctr">
              <a:spcAft>
                <a:spcPts val="80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🎯  Objetivo General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Desarrollar un SIG web para visualizar y gestionar la red de teleférico universitario.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86687" y="3474720"/>
            <a:ext cx="292608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254000"/>
          <a:lstStyle/>
          <a:p>
            <a:pPr algn="ctr">
              <a:defRPr sz="2800">
                <a:solidFill>
                  <a:srgbClr val="3B82F6"/>
                </a:solidFill>
              </a:defRPr>
            </a:pPr>
            <a:r>
              <a:t>📐</a:t>
            </a:r>
          </a:p>
          <a:p>
            <a:pPr algn="ctr">
              <a:spcBef>
                <a:spcPts val="800"/>
              </a:spcBef>
              <a:defRPr sz="1300">
                <a:solidFill>
                  <a:srgbClr val="CBD5E1"/>
                </a:solidFill>
                <a:latin typeface="Calibri"/>
              </a:defRPr>
            </a:pPr>
            <a:r>
              <a:t>Modelar geometrías espaciales con PostGIS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32807" y="3474720"/>
            <a:ext cx="292608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254000"/>
          <a:lstStyle/>
          <a:p>
            <a:pPr algn="ctr">
              <a:defRPr sz="2800">
                <a:solidFill>
                  <a:srgbClr val="10B981"/>
                </a:solidFill>
              </a:defRPr>
            </a:pPr>
            <a:r>
              <a:t>☁️</a:t>
            </a:r>
          </a:p>
          <a:p>
            <a:pPr algn="ctr">
              <a:spcBef>
                <a:spcPts val="800"/>
              </a:spcBef>
              <a:defRPr sz="1300">
                <a:solidFill>
                  <a:srgbClr val="CBD5E1"/>
                </a:solidFill>
                <a:latin typeface="Calibri"/>
              </a:defRPr>
            </a:pPr>
            <a:r>
              <a:t>Exponer API REST con NestJS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78927" y="3474720"/>
            <a:ext cx="292608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254000"/>
          <a:lstStyle/>
          <a:p>
            <a:pPr algn="ctr">
              <a:defRPr sz="2800">
                <a:solidFill>
                  <a:srgbClr val="3B82F6"/>
                </a:solidFill>
              </a:defRPr>
            </a:pPr>
            <a:r>
              <a:t>🗺️</a:t>
            </a:r>
          </a:p>
          <a:p>
            <a:pPr algn="ctr">
              <a:spcBef>
                <a:spcPts val="800"/>
              </a:spcBef>
              <a:defRPr sz="1300">
                <a:solidFill>
                  <a:srgbClr val="CBD5E1"/>
                </a:solidFill>
                <a:latin typeface="Calibri"/>
              </a:defRPr>
            </a:pPr>
            <a:r>
              <a:t>Visualizar el mapa 3D con Mapbox GL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🏗️  Arquitectura General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28016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01600"/>
          <a:lstStyle/>
          <a:p>
            <a:pPr algn="ctr">
              <a:defRPr sz="1800" b="1">
                <a:solidFill>
                  <a:srgbClr val="3B82F6"/>
                </a:solidFill>
                <a:latin typeface="Calibri"/>
              </a:defRPr>
            </a:pPr>
            <a:r>
              <a:t>🖥️  Frontend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React 19 + Vite + Mapbox GL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669"/>
                </a:solidFill>
                <a:latin typeface="Calibri"/>
              </a:defRPr>
            </a:pPr>
            <a:r>
              <a:t>⬇️  REST API  ·  puerto 3333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329184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01600"/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⚙️  Backend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NestJS + Clean Architecture + TypeScript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4297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669"/>
                </a:solidFill>
                <a:latin typeface="Calibri"/>
              </a:defRPr>
            </a:pPr>
            <a:r>
              <a:t>⬇️  Prisma 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530352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47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01600"/>
          <a:lstStyle/>
          <a:p>
            <a:pPr algn="ctr">
              <a:defRPr sz="1800" b="1">
                <a:solidFill>
                  <a:srgbClr val="475669"/>
                </a:solidFill>
                <a:latin typeface="Calibri"/>
              </a:defRPr>
            </a:pPr>
            <a:r>
              <a:t>🗄️  Base de Datos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PostgreSQL + PostGIS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669"/>
                </a:solidFill>
                <a:latin typeface="Calibri"/>
              </a:defRPr>
            </a:pPr>
            <a:r>
              <a:t>🔄  Comunicación mediante JSON con geometrías GeoJSON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🗃️  Base de Datos &amp; Modelo Espacial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8047" y="1463040"/>
            <a:ext cx="192024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77800"/>
          <a:lstStyle/>
          <a:p>
            <a:pPr algn="ctr">
              <a:defRPr sz="2800"/>
            </a:pPr>
            <a:r>
              <a:t>🚆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3B82F6"/>
                </a:solidFill>
                <a:latin typeface="Calibri"/>
              </a:defRPr>
            </a:pPr>
            <a:r>
              <a:t>Líneas</a:t>
            </a:r>
          </a:p>
          <a:p>
            <a:pPr algn="ctr">
              <a:spcBef>
                <a:spcPts val="4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Ruta de transporte</a:t>
            </a:r>
            <a:br/>
            <a:r>
              <a:t>con color y estado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86887" y="1463040"/>
            <a:ext cx="192024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77800"/>
          <a:lstStyle/>
          <a:p>
            <a:pPr algn="ctr">
              <a:defRPr sz="2800"/>
            </a:pPr>
            <a:r>
              <a:t>📍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10B981"/>
                </a:solidFill>
                <a:latin typeface="Calibri"/>
              </a:defRPr>
            </a:pPr>
            <a:r>
              <a:t>Estaciones</a:t>
            </a:r>
          </a:p>
          <a:p>
            <a:pPr algn="ctr">
              <a:spcBef>
                <a:spcPts val="4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Polígono</a:t>
            </a:r>
            <a:br/>
            <a:r>
              <a:t>(área geográfica)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35727" y="1463040"/>
            <a:ext cx="192024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77800"/>
          <a:lstStyle/>
          <a:p>
            <a:pPr algn="ctr">
              <a:defRPr sz="2800"/>
            </a:pPr>
            <a:r>
              <a:t>🔌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3B82F6"/>
                </a:solidFill>
                <a:latin typeface="Calibri"/>
              </a:defRPr>
            </a:pPr>
            <a:r>
              <a:t>Cables</a:t>
            </a:r>
          </a:p>
          <a:p>
            <a:pPr algn="ctr">
              <a:spcBef>
                <a:spcPts val="4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LineString</a:t>
            </a:r>
            <a:br/>
            <a:r>
              <a:t>(trazado de cable)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84567" y="1463040"/>
            <a:ext cx="192024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77800"/>
          <a:lstStyle/>
          <a:p>
            <a:pPr algn="ctr">
              <a:defRPr sz="2800"/>
            </a:pPr>
            <a:r>
              <a:t>⚡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10B981"/>
                </a:solidFill>
                <a:latin typeface="Calibri"/>
              </a:defRPr>
            </a:pPr>
            <a:r>
              <a:t>Postes</a:t>
            </a:r>
          </a:p>
          <a:p>
            <a:pPr algn="ctr">
              <a:spcBef>
                <a:spcPts val="4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Point</a:t>
            </a:r>
            <a:br/>
            <a:r>
              <a:t>(ubicación exacta)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3407" y="1463040"/>
            <a:ext cx="192024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77800"/>
          <a:lstStyle/>
          <a:p>
            <a:pPr algn="ctr">
              <a:defRPr sz="2800"/>
            </a:pPr>
            <a:r>
              <a:t>🔗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3B82F6"/>
                </a:solidFill>
                <a:latin typeface="Calibri"/>
              </a:defRPr>
            </a:pPr>
            <a:r>
              <a:t>Linea-Estación</a:t>
            </a:r>
          </a:p>
          <a:p>
            <a:pPr algn="ctr">
              <a:spcBef>
                <a:spcPts val="4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Join table</a:t>
            </a:r>
            <a:br/>
            <a:r>
              <a:t>M:N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754880"/>
            <a:ext cx="2560320" cy="548640"/>
          </a:xfrm>
          <a:prstGeom prst="roundRect">
            <a:avLst>
              <a:gd name="adj" fmla="val 5000"/>
            </a:avLst>
          </a:prstGeom>
          <a:solidFill>
            <a:srgbClr val="142545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defRPr sz="1200">
                <a:solidFill>
                  <a:srgbClr val="3B82F6"/>
                </a:solidFill>
                <a:latin typeface="Calibri"/>
              </a:defRPr>
            </a:pPr>
            <a:r>
              <a:t>🌍  PostGIS · geometry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4754880"/>
            <a:ext cx="2560320" cy="548640"/>
          </a:xfrm>
          <a:prstGeom prst="roundRect">
            <a:avLst>
              <a:gd name="adj" fmla="val 5000"/>
            </a:avLst>
          </a:prstGeom>
          <a:solidFill>
            <a:srgbClr val="14254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defRPr sz="1200">
                <a:solidFill>
                  <a:srgbClr val="10B981"/>
                </a:solidFill>
                <a:latin typeface="Calibri"/>
              </a:defRPr>
            </a:pPr>
            <a:r>
              <a:t>📦  Prisma 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754880"/>
            <a:ext cx="2560320" cy="548640"/>
          </a:xfrm>
          <a:prstGeom prst="roundRect">
            <a:avLst>
              <a:gd name="adj" fmla="val 5000"/>
            </a:avLst>
          </a:prstGeom>
          <a:solidFill>
            <a:srgbClr val="142545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defRPr sz="1200">
                <a:solidFill>
                  <a:srgbClr val="3B82F6"/>
                </a:solidFill>
                <a:latin typeface="Calibri"/>
              </a:defRPr>
            </a:pPr>
            <a:r>
              <a:t>📤  Exportación GeoJSON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669"/>
                </a:solidFill>
                <a:latin typeface="Calibri"/>
              </a:defRPr>
            </a:pPr>
            <a:r>
              <a:t>🔗  Una Línea tiene muchos Cables, Postes y Estaciones (a través de LineaEstación)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🧱  Backend: Clean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40967" y="1645920"/>
            <a:ext cx="29260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152400" tIns="254000"/>
          <a:lstStyle/>
          <a:p>
            <a:pPr algn="ctr">
              <a:defRPr sz="2000" b="1">
                <a:solidFill>
                  <a:srgbClr val="3B82F6"/>
                </a:solidFill>
                <a:latin typeface="Calibri"/>
              </a:defRPr>
            </a:pPr>
            <a:r>
              <a:t>📦 Dominio</a:t>
            </a:r>
          </a:p>
          <a:p>
            <a:pPr>
              <a:spcBef>
                <a:spcPts val="1000"/>
              </a:spcBef>
              <a:defRPr sz="1400">
                <a:solidFill>
                  <a:srgbClr val="CBD5E1"/>
                </a:solidFill>
                <a:latin typeface="Calibri"/>
              </a:defRPr>
            </a:pPr>
            <a:r>
              <a:t>Entidades y reglas de negocio</a:t>
            </a:r>
          </a:p>
        </p:txBody>
      </p:sp>
      <p:sp>
        <p:nvSpPr>
          <p:cNvPr id="5" name="Rectangle 4"/>
          <p:cNvSpPr/>
          <p:nvPr/>
        </p:nvSpPr>
        <p:spPr>
          <a:xfrm>
            <a:off x="1340967" y="1645920"/>
            <a:ext cx="76200" cy="2743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32807" y="1645920"/>
            <a:ext cx="29260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152400" tIns="254000"/>
          <a:lstStyle/>
          <a:p>
            <a:pPr algn="ctr">
              <a:defRPr sz="2000" b="1">
                <a:solidFill>
                  <a:srgbClr val="10B981"/>
                </a:solidFill>
                <a:latin typeface="Calibri"/>
              </a:defRPr>
            </a:pPr>
            <a:r>
              <a:t>⚙️  Aplicación</a:t>
            </a:r>
          </a:p>
          <a:p>
            <a:pPr>
              <a:spcBef>
                <a:spcPts val="1000"/>
              </a:spcBef>
              <a:defRPr sz="1400">
                <a:solidFill>
                  <a:srgbClr val="CBD5E1"/>
                </a:solidFill>
                <a:latin typeface="Calibri"/>
              </a:defRPr>
            </a:pPr>
            <a:r>
              <a:t>Casos de uso, DTOs y comandos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632807" y="1645920"/>
            <a:ext cx="76200" cy="2743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24647" y="1645920"/>
            <a:ext cx="29260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152400" tIns="254000"/>
          <a:lstStyle/>
          <a:p>
            <a:pPr algn="ctr">
              <a:defRPr sz="2000" b="1">
                <a:solidFill>
                  <a:srgbClr val="3B82F6"/>
                </a:solidFill>
                <a:latin typeface="Calibri"/>
              </a:defRPr>
            </a:pPr>
            <a:r>
              <a:t>🔧 Infraestructura</a:t>
            </a:r>
          </a:p>
          <a:p>
            <a:pPr>
              <a:spcBef>
                <a:spcPts val="1000"/>
              </a:spcBef>
              <a:defRPr sz="1400">
                <a:solidFill>
                  <a:srgbClr val="CBD5E1"/>
                </a:solidFill>
                <a:latin typeface="Calibri"/>
              </a:defRPr>
            </a:pPr>
            <a:r>
              <a:t>Prisma, controladores, módulos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4647" y="1645920"/>
            <a:ext cx="76200" cy="2743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28800" y="4937760"/>
            <a:ext cx="2560320" cy="548640"/>
          </a:xfrm>
          <a:prstGeom prst="roundRect">
            <a:avLst>
              <a:gd name="adj" fmla="val 5000"/>
            </a:avLst>
          </a:prstGeom>
          <a:solidFill>
            <a:srgbClr val="142545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defRPr sz="1200">
                <a:solidFill>
                  <a:srgbClr val="3B82F6"/>
                </a:solidFill>
                <a:latin typeface="Calibri"/>
              </a:defRPr>
            </a:pPr>
            <a:r>
              <a:t>🟦  TypeScript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4937760"/>
            <a:ext cx="2560320" cy="548640"/>
          </a:xfrm>
          <a:prstGeom prst="roundRect">
            <a:avLst>
              <a:gd name="adj" fmla="val 5000"/>
            </a:avLst>
          </a:prstGeom>
          <a:solidFill>
            <a:srgbClr val="14254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defRPr sz="1200">
                <a:solidFill>
                  <a:srgbClr val="10B981"/>
                </a:solidFill>
                <a:latin typeface="Calibri"/>
              </a:defRPr>
            </a:pPr>
            <a:r>
              <a:t>🪺  NestJS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937760"/>
            <a:ext cx="2560320" cy="548640"/>
          </a:xfrm>
          <a:prstGeom prst="roundRect">
            <a:avLst>
              <a:gd name="adj" fmla="val 5000"/>
            </a:avLst>
          </a:prstGeom>
          <a:solidFill>
            <a:srgbClr val="142545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defRPr sz="1200">
                <a:solidFill>
                  <a:srgbClr val="3B82F6"/>
                </a:solidFill>
                <a:latin typeface="Calibri"/>
              </a:defRPr>
            </a:pPr>
            <a:r>
              <a:t>🧩  Modular por entidad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🌐  API REST — Endpoints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0907" y="1645920"/>
            <a:ext cx="2377440" cy="2560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77800"/>
          <a:lstStyle/>
          <a:p>
            <a:pPr algn="ctr">
              <a:defRPr sz="1100" b="1">
                <a:solidFill>
                  <a:srgbClr val="3B82F6"/>
                </a:solidFill>
                <a:latin typeface="Calibri"/>
              </a:defRPr>
            </a:pPr>
            <a:r>
              <a:t>GET · POST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F1F5F9"/>
                </a:solidFill>
                <a:latin typeface="Consolas"/>
              </a:defRPr>
            </a:pPr>
            <a:r>
              <a:t>/api/lineas</a:t>
            </a:r>
          </a:p>
          <a:p>
            <a:pPr algn="ctr">
              <a:spcBef>
                <a:spcPts val="6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Líneas de transporte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58387" y="1645920"/>
            <a:ext cx="2377440" cy="2560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77800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GET · POST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F1F5F9"/>
                </a:solidFill>
                <a:latin typeface="Consolas"/>
              </a:defRPr>
            </a:pPr>
            <a:r>
              <a:t>/api/estaciones</a:t>
            </a:r>
          </a:p>
          <a:p>
            <a:pPr algn="ctr">
              <a:spcBef>
                <a:spcPts val="6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Estaciones (polígono)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5867" y="1645920"/>
            <a:ext cx="2377440" cy="2560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77800"/>
          <a:lstStyle/>
          <a:p>
            <a:pPr algn="ctr">
              <a:defRPr sz="1100" b="1">
                <a:solidFill>
                  <a:srgbClr val="3B82F6"/>
                </a:solidFill>
                <a:latin typeface="Calibri"/>
              </a:defRPr>
            </a:pPr>
            <a:r>
              <a:t>GET · POST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F1F5F9"/>
                </a:solidFill>
                <a:latin typeface="Consolas"/>
              </a:defRPr>
            </a:pPr>
            <a:r>
              <a:t>/cable</a:t>
            </a:r>
          </a:p>
          <a:p>
            <a:pPr algn="ctr">
              <a:spcBef>
                <a:spcPts val="6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Cables (LineString)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53347" y="1645920"/>
            <a:ext cx="2377440" cy="2560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77800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GET · POST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F1F5F9"/>
                </a:solidFill>
                <a:latin typeface="Consolas"/>
              </a:defRPr>
            </a:pPr>
            <a:r>
              <a:t>/api/poste</a:t>
            </a:r>
          </a:p>
          <a:p>
            <a:pPr algn="ctr">
              <a:spcBef>
                <a:spcPts val="6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Postes (Point)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📐  Respuestas con geometrías en formato GeoJSON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🔒  Autenticación planeada: JWT + bcrypt + cookies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🗺️  Frontend: Mapa Interactivo 3D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2367" y="1463040"/>
            <a:ext cx="228600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203200"/>
          <a:lstStyle/>
          <a:p>
            <a:pPr algn="ctr">
              <a:defRPr sz="3000"/>
            </a:pPr>
            <a:r>
              <a:t>⚛️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3B82F6"/>
                </a:solidFill>
                <a:latin typeface="Calibri"/>
              </a:defRPr>
            </a:pPr>
            <a:r>
              <a:t>React 19</a:t>
            </a:r>
          </a:p>
          <a:p>
            <a:pPr algn="ctr">
              <a:spcBef>
                <a:spcPts val="4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+ Vite + TypeScript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72687" y="1463040"/>
            <a:ext cx="228600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203200"/>
          <a:lstStyle/>
          <a:p>
            <a:pPr algn="ctr">
              <a:defRPr sz="3000"/>
            </a:pPr>
            <a:r>
              <a:t>🗺️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10B981"/>
                </a:solidFill>
                <a:latin typeface="Calibri"/>
              </a:defRPr>
            </a:pPr>
            <a:r>
              <a:t>Mapbox GL</a:t>
            </a:r>
          </a:p>
          <a:p>
            <a:pPr algn="ctr">
              <a:spcBef>
                <a:spcPts val="4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Renderizado 3D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463040"/>
            <a:ext cx="228600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203200"/>
          <a:lstStyle/>
          <a:p>
            <a:pPr algn="ctr">
              <a:defRPr sz="3000"/>
            </a:pPr>
            <a:r>
              <a:t>🎛️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3B82F6"/>
                </a:solidFill>
                <a:latin typeface="Calibri"/>
              </a:defRPr>
            </a:pPr>
            <a:r>
              <a:t>Panel de Capas</a:t>
            </a:r>
          </a:p>
          <a:p>
            <a:pPr algn="ctr">
              <a:spcBef>
                <a:spcPts val="4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Toggle estaciones,</a:t>
            </a:r>
            <a:br/>
            <a:r>
              <a:t>postes, cables, 3D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93327" y="1463040"/>
            <a:ext cx="228600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203200"/>
          <a:lstStyle/>
          <a:p>
            <a:pPr algn="ctr">
              <a:defRPr sz="3000"/>
            </a:pPr>
            <a:r>
              <a:t>💬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10B981"/>
                </a:solidFill>
                <a:latin typeface="Calibri"/>
              </a:defRPr>
            </a:pPr>
            <a:r>
              <a:t>Popups Hover</a:t>
            </a:r>
          </a:p>
          <a:p>
            <a:pPr algn="ctr">
              <a:spcBef>
                <a:spcPts val="4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Información</a:t>
            </a:r>
            <a:br/>
            <a:r>
              <a:t>al pasar el mouse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54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B82F6"/>
                </a:solidFill>
                <a:latin typeface="Calibri"/>
              </a:defRPr>
            </a:pPr>
            <a:r>
              <a:t>■  Estaciones polígonos 3D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754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alibri"/>
              </a:defRPr>
            </a:pPr>
            <a:r>
              <a:t>◆  Postes marcadores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754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B82F6"/>
                </a:solidFill>
                <a:latin typeface="Calibri"/>
              </a:defRPr>
            </a:pPr>
            <a:r>
              <a:t>━  Cables líneas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4754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alibri"/>
              </a:defRPr>
            </a:pPr>
            <a:r>
              <a:t>🏢  Edificios 3D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▶️  Demostración en Vivo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8229600" cy="4114800"/>
          </a:xfrm>
          <a:prstGeom prst="roundRect">
            <a:avLst>
              <a:gd name="adj" fmla="val 5000"/>
            </a:avLst>
          </a:prstGeom>
          <a:solidFill>
            <a:srgbClr val="1A264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0"/>
          <a:lstStyle/>
          <a:p>
            <a:pPr algn="ctr">
              <a:defRPr sz="6400"/>
            </a:pPr>
            <a:r>
              <a:t>🗺️</a:t>
            </a:r>
          </a:p>
          <a:p>
            <a:pPr algn="ctr">
              <a:spcBef>
                <a:spcPts val="1200"/>
              </a:spcBef>
              <a:defRPr sz="2000">
                <a:solidFill>
                  <a:srgbClr val="94A3B8"/>
                </a:solidFill>
                <a:latin typeface="Calibri"/>
              </a:defRPr>
            </a:pPr>
            <a:r>
              <a:t>Visualización de la red en mapa 3D</a:t>
            </a:r>
          </a:p>
          <a:p>
            <a:pPr algn="ctr">
              <a:defRPr sz="1200">
                <a:solidFill>
                  <a:srgbClr val="475669"/>
                </a:solidFill>
                <a:latin typeface="Calibri"/>
              </a:defRPr>
            </a:pPr>
            <a:r>
              <a:t>📍 Mapbox GL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669"/>
                </a:solidFill>
                <a:latin typeface="Calibri"/>
              </a:defRPr>
            </a:pPr>
            <a:r>
              <a:t>🖥️  Demo en vivo — navegación por el mapa interactivo con estaciones, postes y cables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🛠️  Stack Tecnológico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Calibri"/>
              </a:defRPr>
            </a:pPr>
            <a:r>
              <a:t>🖥️  Backend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>
              <a:defRPr sz="1400">
                <a:solidFill>
                  <a:srgbClr val="CBD5E1"/>
                </a:solidFill>
                <a:latin typeface="Calibri"/>
              </a:defRPr>
            </a:pPr>
            <a:r>
              <a:t>🟦  NestJS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73736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>
              <a:defRPr sz="1400">
                <a:solidFill>
                  <a:srgbClr val="CBD5E1"/>
                </a:solidFill>
                <a:latin typeface="Calibri"/>
              </a:defRPr>
            </a:pPr>
            <a:r>
              <a:t>📘  TypeScript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73736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>
              <a:defRPr sz="1400">
                <a:solidFill>
                  <a:srgbClr val="CBD5E1"/>
                </a:solidFill>
                <a:latin typeface="Calibri"/>
              </a:defRPr>
            </a:pPr>
            <a:r>
              <a:t>📦  Prisma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73736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>
              <a:defRPr sz="1400">
                <a:solidFill>
                  <a:srgbClr val="CBD5E1"/>
                </a:solidFill>
                <a:latin typeface="Calibri"/>
              </a:defRPr>
            </a:pPr>
            <a:r>
              <a:t>🗄️  PostgreSQL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73736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>
              <a:defRPr sz="1400">
                <a:solidFill>
                  <a:srgbClr val="CBD5E1"/>
                </a:solidFill>
                <a:latin typeface="Calibri"/>
              </a:defRPr>
            </a:pPr>
            <a:r>
              <a:t>🌍  PostGIS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Calibri"/>
              </a:defRPr>
            </a:pPr>
            <a:r>
              <a:t>🎨  Frontend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4048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>
              <a:defRPr sz="1400">
                <a:solidFill>
                  <a:srgbClr val="CBD5E1"/>
                </a:solidFill>
                <a:latin typeface="Calibri"/>
              </a:defRPr>
            </a:pPr>
            <a:r>
              <a:t>⚛️  React 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84048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>
              <a:defRPr sz="1400">
                <a:solidFill>
                  <a:srgbClr val="CBD5E1"/>
                </a:solidFill>
                <a:latin typeface="Calibri"/>
              </a:defRPr>
            </a:pPr>
            <a:r>
              <a:t>⚡  Vite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84048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>
              <a:defRPr sz="1400">
                <a:solidFill>
                  <a:srgbClr val="CBD5E1"/>
                </a:solidFill>
                <a:latin typeface="Calibri"/>
              </a:defRPr>
            </a:pPr>
            <a:r>
              <a:t>🗺️  Mapbox GL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384048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>
              <a:defRPr sz="1400">
                <a:solidFill>
                  <a:srgbClr val="CBD5E1"/>
                </a:solidFill>
                <a:latin typeface="Calibri"/>
              </a:defRPr>
            </a:pPr>
            <a:r>
              <a:t>📘  TypeScript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Calibri"/>
              </a:defRPr>
            </a:pPr>
            <a:r>
              <a:t>🔧  Herramientas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760720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14254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defRPr sz="1300">
                <a:solidFill>
                  <a:srgbClr val="CBD5E1"/>
                </a:solidFill>
                <a:latin typeface="Calibri"/>
              </a:defRPr>
            </a:pPr>
            <a:r>
              <a:t>🐳  Docker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5760720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14254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defRPr sz="1300">
                <a:solidFill>
                  <a:srgbClr val="CBD5E1"/>
                </a:solidFill>
                <a:latin typeface="Calibri"/>
              </a:defRPr>
            </a:pPr>
            <a:r>
              <a:t>🔒  JWT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5760720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14254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defRPr sz="1300">
                <a:solidFill>
                  <a:srgbClr val="CBD5E1"/>
                </a:solidFill>
                <a:latin typeface="Calibri"/>
              </a:defRPr>
            </a:pPr>
            <a:r>
              <a:t>🛡️  bcrypt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5760720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14254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defRPr sz="1300">
                <a:solidFill>
                  <a:srgbClr val="CBD5E1"/>
                </a:solidFill>
                <a:latin typeface="Calibri"/>
              </a:defRPr>
            </a:pPr>
            <a:r>
              <a:t>📧  nodemailer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🏁  Conclusiones &amp; Trabajo Futuro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457200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4800" rIns="152400" tIns="203200"/>
          <a:lstStyle/>
          <a:p>
            <a:pPr algn="ctr">
              <a:defRPr sz="2200" b="1">
                <a:solidFill>
                  <a:srgbClr val="10B981"/>
                </a:solidFill>
                <a:latin typeface="Calibri"/>
              </a:defRPr>
            </a:pPr>
            <a:r>
              <a:t>✅  Logros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  <a:latin typeface="Calibri"/>
              </a:defRPr>
            </a:pPr>
            <a:r>
              <a:t>  •  Visor SIG funcional con datos espaciales reales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  <a:latin typeface="Calibri"/>
              </a:defRPr>
            </a:pPr>
            <a:r>
              <a:t>  •  API REST con operaciones CRUD completas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  <a:latin typeface="Calibri"/>
              </a:defRPr>
            </a:pPr>
            <a:r>
              <a:t>  •  Arquitectura limpia y mantenible (Clean Architecture)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  <a:latin typeface="Calibri"/>
              </a:defRPr>
            </a:pPr>
            <a:r>
              <a:t>  •  Visualización 3D con Mapbox GL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645920"/>
            <a:ext cx="76200" cy="3657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457200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4800" rIns="152400" tIns="203200"/>
          <a:lstStyle/>
          <a:p>
            <a:pPr algn="ctr">
              <a:defRPr sz="2200" b="1">
                <a:solidFill>
                  <a:srgbClr val="3B82F6"/>
                </a:solidFill>
                <a:latin typeface="Calibri"/>
              </a:defRPr>
            </a:pPr>
            <a:r>
              <a:t>🚀  Trabajo Futuro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  <a:latin typeface="Calibri"/>
              </a:defRPr>
            </a:pPr>
            <a:r>
              <a:t>  •  Autenticación completa (JWT, roles)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  <a:latin typeface="Calibri"/>
              </a:defRPr>
            </a:pPr>
            <a:r>
              <a:t>  •  Panel de administración web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  <a:latin typeface="Calibri"/>
              </a:defRPr>
            </a:pPr>
            <a:r>
              <a:t>  •  Aplicación móvil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  <a:latin typeface="Calibri"/>
              </a:defRPr>
            </a:pPr>
            <a:r>
              <a:t>  •  Análisis de rutas y reportes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76200" cy="3657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2286000"/>
          </a:xfrm>
          <a:prstGeom prst="rect">
            <a:avLst/>
          </a:prstGeom>
          <a:solidFill>
            <a:srgbClr val="12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1F5F9"/>
                </a:solidFill>
                <a:latin typeface="Calibri"/>
              </a:defRPr>
            </a:pPr>
            <a:r>
              <a:t>¡Gracias!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194560"/>
            <a:ext cx="18288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560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Calibri"/>
              </a:defRPr>
            </a:pPr>
            <a:r>
              <a:t>¿Preguntas?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669"/>
                </a:solidFill>
                <a:latin typeface="Calibri"/>
              </a:defRPr>
            </a:pPr>
            <a:r>
              <a:t>📧  contacto@universidad.edu      🐙  github.com/universidad/sig-teleferico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Calibri"/>
              </a:defRPr>
            </a:pPr>
            <a:r>
              <a:t>SIG Teleférico Universitario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